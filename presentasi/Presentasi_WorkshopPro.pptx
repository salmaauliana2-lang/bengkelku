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280160"/>
            <a:ext cx="5120640" cy="5120640"/>
          </a:xfrm>
          <a:prstGeom prst="ellipse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108960"/>
            <a:ext cx="3474720" cy="3474720"/>
          </a:xfrm>
          <a:prstGeom prst="ellipse">
            <a:avLst/>
          </a:prstGeom>
          <a:solidFill>
            <a:srgbClr val="1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9009"/>
                </a:solidFill>
                <a:latin typeface="Segoe UI"/>
              </a:rPr>
              <a:t>TUGAS AKHIR PELATIHAN BLKPP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WorkshopPro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E90FA"/>
                </a:solidFill>
                <a:latin typeface="Segoe UI"/>
              </a:rPr>
              <a:t>Sistem Manajemen Bengkel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3CEE0"/>
                </a:solidFill>
                <a:latin typeface="Segoe UI"/>
              </a:rPr>
              <a:t>Aplikasi web full-stack untuk mengelola inventaris spare part, penjualan, pekerjaan servis, dan pembelian — dengan stok terlacak real-time serta laporan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92040"/>
            <a:ext cx="2404872" cy="402336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74336"/>
            <a:ext cx="2404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Go 1.27 · Gin ·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4892040"/>
            <a:ext cx="2551176" cy="402336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12B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4974336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React 19 · TypeScript · 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4892040"/>
            <a:ext cx="1892808" cy="402336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790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974336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JWT · RBAC ·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Salma Auliana  ·  salma.auliana2@gmail.com  ·  Tugas Akhir BLKPP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BC6"/>
                </a:solidFill>
                <a:latin typeface="Segoe UI"/>
              </a:rPr>
              <a:t>Akun demo:  owner@bengkelku.id / owner123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9009"/>
                </a:solidFill>
                <a:latin typeface="Segoe UI"/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Masalah yang Dihadapi Bengkel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9009"/>
                </a:solidFill>
                <a:latin typeface="Segoe UI"/>
              </a:rPr>
              <a:t>Kondisi sebelum ada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 Pencatatan manual</a:t>
            </a:r>
            <a:r>
              <a:rPr sz="1300" b="0">
                <a:solidFill>
                  <a:srgbClr val="475569"/>
                </a:solidFill>
                <a:latin typeface="Segoe UI"/>
              </a:rPr>
              <a:t> — nota &amp; buku kas sering hilang atau salah tulis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 Stok tidak akurat</a:t>
            </a:r>
            <a:r>
              <a:rPr sz="1300" b="0">
                <a:solidFill>
                  <a:srgbClr val="475569"/>
                </a:solidFill>
                <a:latin typeface="Segoe UI"/>
              </a:rPr>
              <a:t> — spare part mudah habis atau menumpuk diam di gudang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 Servis tidak terlacak</a:t>
            </a:r>
            <a:r>
              <a:rPr sz="1300" b="0">
                <a:solidFill>
                  <a:srgbClr val="475569"/>
                </a:solidFill>
                <a:latin typeface="Segoe UI"/>
              </a:rPr>
              <a:t> — pelanggan sulit mengetahui progres kendaraannya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 Laporan lambat</a:t>
            </a:r>
            <a:r>
              <a:rPr sz="1300" b="0">
                <a:solidFill>
                  <a:srgbClr val="475569"/>
                </a:solidFill>
                <a:latin typeface="Segoe UI"/>
              </a:rPr>
              <a:t> — rekap penjualan dihitung manual tiap akhir bulan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•  Akses tidak terkontrol</a:t>
            </a:r>
            <a:r>
              <a:rPr sz="1300" b="0">
                <a:solidFill>
                  <a:srgbClr val="475569"/>
                </a:solidFill>
                <a:latin typeface="Segoe UI"/>
              </a:rPr>
              <a:t> — semua orang bisa mengubah data yang sama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08760"/>
            <a:ext cx="5532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Dampaknya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49834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64008" cy="786384"/>
          </a:xfrm>
          <a:prstGeom prst="round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225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Selisih stok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15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Barang terjual tidak masuk catatan.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27248"/>
            <a:ext cx="49834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127248"/>
            <a:ext cx="64008" cy="786384"/>
          </a:xfrm>
          <a:prstGeom prst="round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2552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Kerugian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478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Harga jual &amp; modal tidak terkontrol.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59935"/>
            <a:ext cx="49834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4059935"/>
            <a:ext cx="64008" cy="786384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8795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Pelayanan buruk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5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Antrian servis tidak tertib.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992623"/>
            <a:ext cx="49834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4992623"/>
            <a:ext cx="64008" cy="786384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1206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Keputusan lambat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41324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Pemilik tidak punya data real-time.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B76A"/>
                </a:solidFill>
                <a:latin typeface="Segoe UI"/>
              </a:rPr>
              <a:t>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Solusi &amp; Sasaran Proyek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Digitalisasi operasional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Satu aplikasi untuk seluruh aktivitas bengkel: penjualan, servis, pembelian, dan stok.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1" y="15544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9311" y="1783080"/>
            <a:ext cx="566928" cy="566928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1" y="1892807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2514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Stok akurat &amp; terlacak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3017520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Setiap pergerakan barang tercatat otomatis lengkap dengan stok sebelum–sesudah.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544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9944" y="1783080"/>
            <a:ext cx="566928" cy="566928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892807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14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Visibilitas pekerjaan servis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017520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Status antrian kendaraan transparan bagi admin, mekanik, maupun pelanggan.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155448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0576" y="1783080"/>
            <a:ext cx="566928" cy="566928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1892807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514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Keputusan berbasis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017520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Dashboard ringkasan + tren penjualan 7 hari terakhir secara otomatis.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10908792" cy="1965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3434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9009"/>
                </a:solidFill>
                <a:latin typeface="Segoe UI"/>
              </a:rPr>
              <a:t>Cakupan aplikasi (6 modul)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06624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6624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Inventaris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408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Penjualan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Servis Bengkel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08976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8976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Pembelian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4846320"/>
            <a:ext cx="1627632" cy="658368"/>
          </a:xfrm>
          <a:prstGeom prst="roundRect">
            <a:avLst/>
          </a:prstGeom>
          <a:solidFill>
            <a:srgbClr val="1B2A47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5029200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Pengguna &amp;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632704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7DC"/>
                </a:solidFill>
                <a:latin typeface="Segoe UI"/>
              </a:rPr>
              <a:t>Berjalan penuh di satu aplikasi web — tanpa pencatatan manual.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0FA"/>
                </a:solidFill>
                <a:latin typeface="Segoe UI"/>
              </a:rPr>
              <a:t>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Enam Modul Utama Aplikasi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64008" cy="228600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6420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84832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4 kartu statistik (penjualan hari ini, servis aktif, stok menipis, pembelian bulan ini)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Grafik tren penjualan &amp; kunjungan 7 hari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Donut status servis + transaksi terbaru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81328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481328"/>
            <a:ext cx="64008" cy="2286000"/>
          </a:xfrm>
          <a:prstGeom prst="round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Inventaris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56 jenis spare part: SKU, kategori, harga beli dan jual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Riwayat pergerakan stok (masuk/keluar/adjustment)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Peringatan stok menipis &amp; habis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481328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1" y="1481328"/>
            <a:ext cx="64008" cy="2286000"/>
          </a:xfrm>
          <a:prstGeom prst="round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66420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Penjualan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084832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Kasir cepat: pilih item, otomatis kalkulasi subtotal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Invoice INV- otomatis, diskon, catatan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Stok terpotong + tercatat dalam satu transaksi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64008" cy="2286000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114800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Servis Bengkel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535424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Antrian kendaraan: menunggu → dikerjakan → selesai/batal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Keluhan, diagnosa, jasa kerja &amp; spare part terpakai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Pembayaran tunai + status lunas/belum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931920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3931920"/>
            <a:ext cx="64008" cy="2286000"/>
          </a:xfrm>
          <a:prstGeom prst="round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Pembelian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35424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Restock dari supplier beserta rincian item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Stok otomatis bertambah tercatat sebagai 'masuk'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Riwayat pembelian per tanggal &amp; supplier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3931920"/>
            <a:ext cx="3511296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28431" y="3931920"/>
            <a:ext cx="64008" cy="2286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4114800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Pengguna &amp;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4535424"/>
            <a:ext cx="305409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4 role: owner, admin, mekanik, staff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Owner mengelola role lewat menu Pengguna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•  Menu menyesuaikan role yang sedang login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9009"/>
                </a:solidFill>
                <a:latin typeface="Segoe UI"/>
              </a:rPr>
              <a:t>ALUR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Alur Operasional Bengkel</a:t>
            </a:r>
          </a:p>
        </p:txBody>
      </p:sp>
      <p:sp>
        <p:nvSpPr>
          <p:cNvPr id="7" name="Pentagon 6"/>
          <p:cNvSpPr/>
          <p:nvPr/>
        </p:nvSpPr>
        <p:spPr>
          <a:xfrm>
            <a:off x="640080" y="1645920"/>
            <a:ext cx="1901952" cy="1051560"/>
          </a:xfrm>
          <a:prstGeom prst="homePlate">
            <a:avLst>
              <a:gd name="adj" fmla="val 18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Pembelian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Barang masuk dari supplier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645920"/>
            <a:ext cx="1901952" cy="1051560"/>
          </a:xfrm>
          <a:prstGeom prst="chevron">
            <a:avLst>
              <a:gd name="adj" fmla="val 18000"/>
            </a:avLst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Inventaris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Stok &amp; harga diperbarui</a:t>
            </a:r>
          </a:p>
        </p:txBody>
      </p:sp>
      <p:sp>
        <p:nvSpPr>
          <p:cNvPr id="9" name="Chevron 8"/>
          <p:cNvSpPr/>
          <p:nvPr/>
        </p:nvSpPr>
        <p:spPr>
          <a:xfrm>
            <a:off x="4151376" y="1645920"/>
            <a:ext cx="1901952" cy="1051560"/>
          </a:xfrm>
          <a:prstGeom prst="chevron">
            <a:avLst>
              <a:gd name="adj" fmla="val 18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Penjualan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Kasir spare part</a:t>
            </a:r>
          </a:p>
        </p:txBody>
      </p:sp>
      <p:sp>
        <p:nvSpPr>
          <p:cNvPr id="10" name="Chevron 9"/>
          <p:cNvSpPr/>
          <p:nvPr/>
        </p:nvSpPr>
        <p:spPr>
          <a:xfrm>
            <a:off x="5907024" y="1645920"/>
            <a:ext cx="1901952" cy="1051560"/>
          </a:xfrm>
          <a:prstGeom prst="chevron">
            <a:avLst>
              <a:gd name="adj" fmla="val 18000"/>
            </a:avLst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Servis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Kendaraan dikerjakan</a:t>
            </a:r>
          </a:p>
        </p:txBody>
      </p:sp>
      <p:sp>
        <p:nvSpPr>
          <p:cNvPr id="11" name="Chevron 10"/>
          <p:cNvSpPr/>
          <p:nvPr/>
        </p:nvSpPr>
        <p:spPr>
          <a:xfrm>
            <a:off x="7662671" y="1645920"/>
            <a:ext cx="1901952" cy="1051560"/>
          </a:xfrm>
          <a:prstGeom prst="chevron">
            <a:avLst>
              <a:gd name="adj" fmla="val 18000"/>
            </a:avLst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Pembayaran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Pelunasan tercatat</a:t>
            </a:r>
          </a:p>
        </p:txBody>
      </p:sp>
      <p:sp>
        <p:nvSpPr>
          <p:cNvPr id="12" name="Chevron 11"/>
          <p:cNvSpPr/>
          <p:nvPr/>
        </p:nvSpPr>
        <p:spPr>
          <a:xfrm>
            <a:off x="9418319" y="1645920"/>
            <a:ext cx="1901952" cy="1051560"/>
          </a:xfrm>
          <a:prstGeom prst="chevron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Dashboard</a:t>
            </a:r>
          </a:p>
          <a:p>
            <a:pPr algn="ctr">
              <a:lnSpc>
                <a:spcPct val="105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Ringkasan &amp; tren otomatis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10908792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64008" cy="91440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Transaksi atomik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55264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Penjualan, pemotongan stok, dan riwayat stok berjalan dalam SATU transaksi PostgreSQL — bila gagal, semuanya kembali seperti semula.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33087"/>
            <a:ext cx="10908792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33087"/>
            <a:ext cx="64008" cy="91440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885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Kunci baris (FOR UPDATE)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279392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Baris produk dikunci saat proses agar dua kasir tidak bisa menjual stok yang sama di saat bersamaan.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57216"/>
            <a:ext cx="10908792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157216"/>
            <a:ext cx="64008" cy="91440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12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3035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Setiap pergerakan stok menyimpan siapa pelaku, stok sebelum, dan stok sesudah.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0FA"/>
                </a:solidFill>
                <a:latin typeface="Segoe UI"/>
              </a:rPr>
              <a:t>ARSITEKTUR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Arsitektur Sistem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7432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90FA"/>
                </a:solidFill>
                <a:latin typeface="Segoe UI"/>
              </a:rPr>
              <a:t>Browser (Klien)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SPA React 19 + TypeScript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React Router (halaman terproteksi)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State sesi &amp; token JWT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74720" y="2377440"/>
            <a:ext cx="822960" cy="457200"/>
          </a:xfrm>
          <a:prstGeom prst="rightArrow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B76A"/>
                </a:solidFill>
                <a:latin typeface="Segoe UI"/>
              </a:rPr>
              <a:t>REST API — Go + 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Middleware: CORS → JWT → RBAC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Handler → Repository (pgx)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Validasi input binding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19" y="2377440"/>
            <a:ext cx="822960" cy="457200"/>
          </a:xfrm>
          <a:prstGeom prst="rightArrow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19" y="1828800"/>
            <a:ext cx="30449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9933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9009"/>
                </a:solidFill>
                <a:latin typeface="Segoe U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10 tabel + index &amp; CHECK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Migrasi SQL otomatis saat start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Koneksi pool pgx 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Prinsip yang diterapkan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•  Terpisah tugas: handler (HTTP) · repository (SQL) · model (data)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•  Semua route privat dijaga JWT, lalu difilter per role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•  Migrasi berjalan otomatis → instalasi baru langsung siap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•  Graceful shutdown + timeout server untuk keamanan proses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330952" cy="2377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862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Detail teknis penting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Token JWT HS256, berlaku 8 jam, wajib Bearer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Bcrypt untuk semua password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Endpoint /health mengecek koneksi database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Mode satu wadah: backend menyajikan hasil build frontend (STATIC_DIR)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5AF8"/>
                </a:solidFill>
                <a:latin typeface="Segoe UI"/>
              </a:rPr>
              <a:t>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Stack yang Digunakan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66160" cy="548640"/>
          </a:xfrm>
          <a:prstGeom prst="round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Backend (Go)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350008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Go 1.27 + Gin (router &amp; middleware)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953512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895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pgx v5 + connection pool PostgreSQL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557016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4930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golang-jwt/v5 (JWT HS256)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160520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0965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golang.org/x/crypto (bcrypt)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764024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001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gin-contrib/cors, godotenv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5367528"/>
            <a:ext cx="100584" cy="100584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3035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26 endpoint API, dibagi per paket modul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1554480"/>
            <a:ext cx="3566160" cy="54864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170078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Frontend (React)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350008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6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React 19 + TypeScript 6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953512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28895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Vite 8 (build super cepat)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557016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34930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React Router 7 (rute terproteksi)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4160520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40965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Komponen: chart SVG, sparkline, badge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4764024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6" y="470001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CSS modern responsif (sidebar mobile)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5367528"/>
            <a:ext cx="100584" cy="100584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53035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ESLint untuk kualitas kode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91855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91855" y="1554480"/>
            <a:ext cx="3566160" cy="548640"/>
          </a:xfrm>
          <a:prstGeom prst="round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5" y="170078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DevOps &amp; Deployment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7" y="2350008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3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Dockerfile multi-stage (frontend → Go → Alpine)</a:t>
            </a:r>
          </a:p>
        </p:txBody>
      </p:sp>
      <p:sp>
        <p:nvSpPr>
          <p:cNvPr id="42" name="Oval 41"/>
          <p:cNvSpPr/>
          <p:nvPr/>
        </p:nvSpPr>
        <p:spPr>
          <a:xfrm>
            <a:off x="8247887" y="2953512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3" y="2889504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Satu image ringan, non-root user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7" y="3557016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3" y="349300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Railway &amp; Hostless via docker build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7" y="4160520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7343" y="40965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Health check HTTP /health tiap 15 detik</a:t>
            </a:r>
          </a:p>
        </p:txBody>
      </p:sp>
      <p:sp>
        <p:nvSpPr>
          <p:cNvPr id="48" name="Oval 47"/>
          <p:cNvSpPr/>
          <p:nvPr/>
        </p:nvSpPr>
        <p:spPr>
          <a:xfrm>
            <a:off x="8247887" y="4764024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3" y="4700016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Env: DATABASE_URL, JWT_SECRET, STATIC_DIR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7" y="5367528"/>
            <a:ext cx="100584" cy="100584"/>
          </a:xfrm>
          <a:prstGeom prst="ellipse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67343" y="530352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Git untuk versi kode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B76A"/>
                </a:solidFill>
                <a:latin typeface="Segoe UI"/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Modul Endpoint &amp; Aksesnya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908792" cy="3493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2194560"/>
                <a:gridCol w="3136392"/>
              </a:tblGrid>
              <a:tr h="4206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Modul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Endpoint utama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Metode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Akses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/api/auth/register · /login · /auth/me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POST · GET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Publik / semua login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Pengguna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/api/users · /users/:id/role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 · PUT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/api/dashboard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Semua role login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Produk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/api/products · /products/:id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 · PUT · DELETE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Baca: semua · Tulis: owner, admin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Stok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/api/stock/movements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Owner, admin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Penjualan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/api/sales · /sales/:id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Owner, admin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Servis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/api/services · /:id · /:id/parts · /:id/payments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 · PUT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Kerja: owner, admin, mekanik · Buat: owner, admin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Pembelian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/api/purchases · /purchases/:id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GET · POST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Owner, admin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49240"/>
            <a:ext cx="10908792" cy="8229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0468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Catatan: 26 endpoint di bawah /api  ·  semua daftar mendukung pagination ?page=1&amp;limit=20 (maks 100) dan mengembalikan meta page/limit/total  ·  respons JSON konsisten dengan field data &amp; 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04438"/>
                </a:solidFill>
                <a:latin typeface="Segoe UI"/>
              </a:rPr>
              <a:t>KEAMANAN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Kendali Akses Berbasis Role (RBAC)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36192"/>
          <a:ext cx="585216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Modul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Mekanik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Staff</a:t>
                      </a:r>
                    </a:p>
                  </a:txBody>
                  <a:tcPr marL="91440" marR="54864" marT="36576" marB="36576" anchor="ctr"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Inventaris (baca)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Penjualan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Servis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Pembelian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Kelola produk &amp; stok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Kelola pengguna &amp; role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536192"/>
            <a:ext cx="48280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1536192"/>
            <a:ext cx="64008" cy="82296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7335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Autentikasi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5681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JWT HS256 · token 8 jam · secret wajib ≥ 32 karakter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450591"/>
            <a:ext cx="48280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450591"/>
            <a:ext cx="64008" cy="822960"/>
          </a:xfrm>
          <a:prstGeom prst="round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58775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71215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Tersimpan sebagai hash bcrypt, tidak pernah plaintext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364991"/>
            <a:ext cx="48280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0840" y="3364991"/>
            <a:ext cx="64008" cy="822960"/>
          </a:xfrm>
          <a:prstGeom prst="round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502151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Rate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85615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Login 10 percobaan/menit · registrasi 5/menit per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4279392"/>
            <a:ext cx="48280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4279392"/>
            <a:ext cx="64008" cy="822960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41655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Validasi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70001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Binding tag Gin + CHECK constraint di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5193792"/>
            <a:ext cx="48280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5193792"/>
            <a:ext cx="64008" cy="822960"/>
          </a:xfrm>
          <a:prstGeom prst="round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533095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Integritas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61441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Transaksi DB + kunci baris saat transaksi stok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User pertama yang mendaftar otomatis menjadi owner; user berikutnya berstatus staff dan diberi hak oleh owner. Menu di frontend otomatis menyesuaikan role (ProtectedRoute + RoleRoute).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90FA"/>
                </a:solidFill>
                <a:latin typeface="Segoe UI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Skema Data (10 Tabel)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36192"/>
            <a:ext cx="2103120" cy="457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916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536192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39" y="1536192"/>
            <a:ext cx="2103120" cy="45720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6916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90FA"/>
                </a:solidFill>
                <a:latin typeface="Segoe UI"/>
              </a:rPr>
              <a:t>Produk &amp; Stok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011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products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stock_movements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536192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536192"/>
            <a:ext cx="2103120" cy="45720"/>
          </a:xfrm>
          <a:prstGeom prst="round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16916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B76A"/>
                </a:solidFill>
                <a:latin typeface="Segoe UI"/>
              </a:rPr>
              <a:t>Penjualan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011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sales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sale_items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536192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1536192"/>
            <a:ext cx="2103120" cy="45720"/>
          </a:xfrm>
          <a:prstGeom prst="round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6916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79009"/>
                </a:solidFill>
                <a:latin typeface="Segoe UI"/>
              </a:rPr>
              <a:t>Servis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011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services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service_parts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service_payments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536192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1536192"/>
            <a:ext cx="2103120" cy="45720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16916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A5AF8"/>
                </a:solidFill>
                <a:latin typeface="Segoe UI"/>
              </a:rPr>
              <a:t>Pembelian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2011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purchases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purchase_items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832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Integritas &amp; performa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9476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Relasi FOREIGN KEY antar-tabel (hapus data tidak merusak)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CHECK constraint: harga/qty tidak negatif, stok ≥ 0, status valid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16 index pada kolom yang sering dicari &amp; diurutkan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Kolom generated (subtotal) agar konsisten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•  10 file migration dijalankan otomatis saat server 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83280"/>
            <a:ext cx="5330952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9009"/>
                </a:solidFill>
                <a:latin typeface="Segoe UI"/>
              </a:rPr>
              <a:t>Alur data contoh: penjualan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23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1.  Validasi item → INSERT 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251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2.  SELECT product ... FOR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6268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3.  INSERT sale_items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4.  UPDATE products (stok − qty)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2303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5.  INSERT stock_movements (out)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B76A"/>
                </a:solidFill>
                <a:latin typeface="Segoe UI"/>
              </a:rPr>
              <a:t>6.  UPDATE total → COMMIT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54864" cy="56692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9009"/>
                </a:solidFill>
                <a:latin typeface="Segoe UI"/>
              </a:rPr>
              <a:t>KESIAPAN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6035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Data Demo, Pengujian &amp;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66160" cy="54864"/>
          </a:xfrm>
          <a:prstGeom prst="round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Data demo otomatis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304288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56 jenis spare part (SKU, kategori, harga, stok)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926080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62072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5 akun berbeda role siap dipakai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547872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4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3 pembelian, 35 penjualan (54 item)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169664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05656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15 pekerjaan servis + 7 pembayaran tunai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791456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84 pergerakan stok yang konsisten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5413248"/>
            <a:ext cx="91440" cy="91440"/>
          </a:xfrm>
          <a:prstGeom prst="ellipse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Tercetak untuk 7 hari terakhir — dashboard langsung terisi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1554480"/>
            <a:ext cx="3566160" cy="54864"/>
          </a:xfrm>
          <a:prstGeom prst="round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Pengujian &amp; kualitas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304288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22402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Unit test Go: pagination, validasi penjualan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926080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2862072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Unit test: kalkulasi stok &amp; proses seed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547872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483864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Validasi input dua lapis: binding + constraint DB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4169664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4105656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Pagination &amp; meta konsisten di semua daftar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4791456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47274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ESLint + tsc -b saat build frontend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5413248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53492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Mode seed aman: hanya saat tabel produk kosong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91855" y="15544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91855" y="1554480"/>
            <a:ext cx="3566160" cy="54864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5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Deployment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7" y="2304288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5" y="22402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Docker multi-stage: build React → build Go → Alpine</a:t>
            </a:r>
          </a:p>
        </p:txBody>
      </p:sp>
      <p:sp>
        <p:nvSpPr>
          <p:cNvPr id="42" name="Oval 41"/>
          <p:cNvSpPr/>
          <p:nvPr/>
        </p:nvSpPr>
        <p:spPr>
          <a:xfrm>
            <a:off x="8247887" y="2926080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5" y="2862072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Hasil build frontend disajikan backend (satu origin)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7" y="3547872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5" y="3483864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Railway / Hostless cukup dengan Dockerfile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7" y="4169664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5" y="4105656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Health check /health tiap 15 detik</a:t>
            </a:r>
          </a:p>
        </p:txBody>
      </p:sp>
      <p:sp>
        <p:nvSpPr>
          <p:cNvPr id="48" name="Oval 47"/>
          <p:cNvSpPr/>
          <p:nvPr/>
        </p:nvSpPr>
        <p:spPr>
          <a:xfrm>
            <a:off x="8247887" y="4791456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49055" y="47274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Non-root user &amp; timeout server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7" y="5413248"/>
            <a:ext cx="91440" cy="91440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5" y="53492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Skalabel ke hosting mana pun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64224"/>
            <a:ext cx="12191695" cy="27432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WorkshopPro  ·  Tugas Akhir Pelatihan BLKPP  ·  Salma Auliana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7556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9009"/>
                </a:solidFill>
                <a:latin typeface="Segoe UI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Satu aplikasi untuk seluruh operasional bengkel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7568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3DCEB"/>
                </a:solidFill>
                <a:latin typeface="Segoe UI"/>
              </a:rPr>
              <a:t>Seluruh proses bengkel — pembelian, stok, penjualan, servis, dan pembayaran — tercatat digital dalam satu basis data.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3580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3DCEB"/>
                </a:solidFill>
                <a:latin typeface="Segoe UI"/>
              </a:rPr>
              <a:t>Keamanan berlapis: bcrypt, JWT, rate limit, dan pembagian 4 role yang konsisten di API maupun tampilan.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77639"/>
            <a:ext cx="457200" cy="457200"/>
          </a:xfrm>
          <a:prstGeom prst="ellipse">
            <a:avLst/>
          </a:prstGeom>
          <a:solidFill>
            <a:srgbClr val="2E9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95927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3DCEB"/>
                </a:solidFill>
                <a:latin typeface="Segoe UI"/>
              </a:rPr>
              <a:t>Siap dipresentasikan dan di-deploy: data demo otomatis, unit test, migrasi otomatis, dan satu image Docker.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11680"/>
            <a:ext cx="3566160" cy="265176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E9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2402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9009"/>
                </a:solidFill>
                <a:latin typeface="Segoe UI"/>
              </a:rPr>
              <a:t>Rekomendasi pengembangan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651760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C3CEE0"/>
                </a:solidFill>
                <a:latin typeface="Segoe UI"/>
              </a:rPr>
              <a:t>•  Cetak nota / struk PDF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C3CEE0"/>
                </a:solidFill>
                <a:latin typeface="Segoe UI"/>
              </a:rPr>
              <a:t>•  Pembayaran QRIS &amp; e-wallet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C3CEE0"/>
                </a:solidFill>
                <a:latin typeface="Segoe UI"/>
              </a:rPr>
              <a:t>•  Laporan laba rugi per periode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C3CEE0"/>
                </a:solidFill>
                <a:latin typeface="Segoe UI"/>
              </a:rPr>
              <a:t>•  Notifikasi stok minimum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C3CEE0"/>
                </a:solidFill>
                <a:latin typeface="Segoe UI"/>
              </a:rPr>
              <a:t>•  Riwayat servis per kendaraan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424160" cy="8229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23036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Terima kasih  ·  Sesi demo langsung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BC6"/>
                </a:solidFill>
                <a:latin typeface="Segoe UI"/>
              </a:rPr>
              <a:t>owner@bengkelku.id / owner123   ·   admin@bengkelku.id / admin123   ·   budi@bengkelku.id / mekanik123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72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AB5"/>
                </a:solidFill>
                <a:latin typeface="Segoe UI"/>
              </a:rPr>
              <a:t>WorkshopPro  ·  Tugas Akhir Pelatihan BLKPP  ·  Salma Auliana  ·  github.com/MangWifiId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